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solidFill>
              <a:srgbClr val="070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5120640" cy="457200"/>
          </a:xfrm>
          <a:prstGeom prst="roundRect">
            <a:avLst/>
          </a:prstGeom>
          <a:solidFill>
            <a:srgbClr val="131A36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★ AMIHACKS 2026 · TRACK C: CYBERSECURITY &amp; API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5600" b="1">
                <a:solidFill>
                  <a:srgbClr val="FFFFFF"/>
                </a:solidFill>
                <a:latin typeface="Trebuchet MS"/>
              </a:defRPr>
            </a:pPr>
            <a:r>
              <a:t>SentinelAPI</a:t>
            </a:r>
          </a:p>
          <a:p>
            <a:pPr>
              <a:spcAft>
                <a:spcPts val="1600"/>
              </a:spcAft>
              <a:defRPr sz="2400" b="1">
                <a:solidFill>
                  <a:srgbClr val="818CF8"/>
                </a:solidFill>
                <a:latin typeface="Trebuchet MS"/>
              </a:defRPr>
            </a:pPr>
            <a:r>
              <a:t>Autonomous Differential API Security Testing</a:t>
            </a:r>
          </a:p>
          <a:p>
            <a:pPr>
              <a:defRPr sz="1600" b="1">
                <a:solidFill>
                  <a:srgbClr val="F8FAFC"/>
                </a:solidFill>
                <a:latin typeface="Calibri"/>
              </a:defRPr>
            </a:pPr>
            <a:r>
              <a:t>While 200 teams build generic AI wrappers or test basic SQLi/XSS, SentinelAPI solves the #1 blindspot in modern cloud software: Broken Object Level Authorization (BOLA/IDOR).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3413455" cy="1280160"/>
          </a:xfrm>
          <a:prstGeom prst="roundRect">
            <a:avLst/>
          </a:prstGeom>
          <a:solidFill>
            <a:srgbClr val="0E13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24528"/>
            <a:ext cx="30476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WHAT TRACK C DEMANDS · OWASP API #1 Focus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Automated detection of authorization logic flaws across multi-tenant boundaries that traditional scanners miss completely.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114800"/>
            <a:ext cx="3413455" cy="1280160"/>
          </a:xfrm>
          <a:prstGeom prst="roundRect">
            <a:avLst/>
          </a:prstGeom>
          <a:solidFill>
            <a:srgbClr val="0E132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4224528"/>
            <a:ext cx="30476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4D399"/>
                </a:solidFill>
                <a:latin typeface="Trebuchet MS"/>
              </a:defRPr>
            </a:pPr>
            <a:r>
              <a:t>HOW WE SOLVE IT · Ground-Truth Matrix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Learns real resource ownership without guessing IDs, then compares cross-user responses using weighted Jaccard differential distance.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114800"/>
            <a:ext cx="3413455" cy="1280160"/>
          </a:xfrm>
          <a:prstGeom prst="roundRect">
            <a:avLst/>
          </a:prstGeom>
          <a:solidFill>
            <a:srgbClr val="0E1326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224528"/>
            <a:ext cx="30476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084FC"/>
                </a:solidFill>
                <a:latin typeface="Trebuchet MS"/>
              </a:defRPr>
            </a:pPr>
            <a:r>
              <a:t>WHY WE WIN · Zero False Positives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Empirical live re-probes verify 100% reproducibility, generating shell-safe copy-paste cURL PoCs with zero cleartext token leaks.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77840"/>
            <a:ext cx="10728655" cy="594360"/>
          </a:xfrm>
          <a:prstGeom prst="roundRect">
            <a:avLst/>
          </a:prstGeom>
          <a:solidFill>
            <a:srgbClr val="131A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50992"/>
            <a:ext cx="103628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Lead Security Architect: Tanuj  |  Full-Stack &amp; Security Engineering  |  GitHub: https://github.com/x03tanuj/sentinel-api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solidFill>
              <a:srgbClr val="070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● WHAT IT IS SOLVING (PROBLEM STATEMENT)</a:t>
            </a:r>
          </a:p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The Multi-Billion Dollar API Authorization Blindspot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02945"/>
          </a:solidFill>
          <a:ln>
            <a:solidFill>
              <a:srgbClr val="20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SentinelAPI · AmiHacks 2026 (Track C: Cybersecurity)                                                           Slide 2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822960"/>
          </a:xfrm>
          <a:prstGeom prst="roundRect">
            <a:avLst/>
          </a:prstGeom>
          <a:solidFill>
            <a:srgbClr val="131A36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⚠️ OWASP API Security #1 Threat (API1:2023): Over 40% of cloud API breaches stem from Broken Object Level Authorization (BOLA/IDOR) — yet 99% of automated security scanners cannot detect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3413455" cy="356616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295625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87171"/>
                </a:solidFill>
                <a:latin typeface="Trebuchet MS"/>
              </a:defRPr>
            </a:pPr>
            <a:r>
              <a:t>THE CORE FLAW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Changing id=101 to id=102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An authenticated user simply changes an ID parameter in an API request and directly reads, modifies, or deletes another customer's private invoices, patient medical charts, or banking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60320"/>
            <a:ext cx="3413455" cy="356616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788920"/>
            <a:ext cx="295625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B923C"/>
                </a:solidFill>
                <a:latin typeface="Trebuchet MS"/>
              </a:defRPr>
            </a:pPr>
            <a:r>
              <a:t>TRADITIONAL TOOLS FAIL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DAST &amp; SAST Are Blind to Auth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Conventional scanners only test for syntax injection like SQLi or XSS. Operating in single-user isolation, they have zero understanding of multi-tenant ownership, role privileges, or cross-account access boundaries.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560320"/>
            <a:ext cx="3413455" cy="356616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788920"/>
            <a:ext cx="295625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BBF24"/>
                </a:solidFill>
                <a:latin typeface="Trebuchet MS"/>
              </a:defRPr>
            </a:pPr>
            <a:r>
              <a:t>SILENT EXPLOITATION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Flaws Evade Firewalls &amp; WAFs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Because BOLA requests use valid JWT tokens and legitimate JSON formats, target APIs respond with standard 200 OK payloads. WAFs see completely normal traffic, leaving breaches undetected for months.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solidFill>
              <a:srgbClr val="070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● HOW IT IS SOLVING IT (PROPOSED SOLUTION)</a:t>
            </a:r>
          </a:p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The 4-Step Autonomous Differential Security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02945"/>
          </a:solidFill>
          <a:ln>
            <a:solidFill>
              <a:srgbClr val="20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SentinelAPI · AmiHacks 2026 (Track C: Cybersecurity)                                                           Slide 3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4775" cy="384048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17901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  <a:latin typeface="Trebuchet MS"/>
              </a:defRPr>
            </a:pPr>
            <a:r>
              <a:t>STEP 1</a:t>
            </a:r>
          </a:p>
          <a:p>
            <a:pPr>
              <a:spcAft>
                <a:spcPts val="1200"/>
              </a:spcAft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Spec Ingestion &amp; Mapping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Ingests OpenAPI 3.x contracts from URLs or files. Validates schemas, dereferences circular $ref pointers, and prioritizes endpoints by state-changing methods and authorization requirements.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9175" y="1645920"/>
            <a:ext cx="2544775" cy="384048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2055" y="1828800"/>
            <a:ext cx="217901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  <a:latin typeface="Trebuchet MS"/>
              </a:defRPr>
            </a:pPr>
            <a:r>
              <a:t>STEP 2</a:t>
            </a:r>
          </a:p>
          <a:p>
            <a:pPr>
              <a:spcAft>
                <a:spcPts val="1200"/>
              </a:spcAft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Ownership Discovery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Authenticates multiple distinct personas (userA, userB, admin). Automatically queries legitimate profile &amp; collection endpoints to discover owned resources without guessing IDs.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6830" y="1645920"/>
            <a:ext cx="2544775" cy="384048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9710" y="1828800"/>
            <a:ext cx="217901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818CF8"/>
                </a:solidFill>
                <a:latin typeface="Trebuchet MS"/>
              </a:defRPr>
            </a:pPr>
            <a:r>
              <a:t>STEP 3</a:t>
            </a:r>
          </a:p>
          <a:p>
            <a:pPr>
              <a:spcAft>
                <a:spcPts val="1200"/>
              </a:spcAft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Differential Analysis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Compiles a ground-truth Allow/Deny expectation matrix. Dispatches rate-limited cross-user probes and mathematically measures response divergence using weighted Jaccard distance and schema shifts.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4485" y="1645920"/>
            <a:ext cx="2544775" cy="384048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7365" y="1828800"/>
            <a:ext cx="217901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7171"/>
                </a:solidFill>
                <a:latin typeface="Trebuchet MS"/>
              </a:defRPr>
            </a:pPr>
            <a:r>
              <a:t>STEP 4</a:t>
            </a:r>
          </a:p>
          <a:p>
            <a:pPr>
              <a:spcAft>
                <a:spcPts val="1200"/>
              </a:spcAft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Empirical Proof &amp; cURL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Actively re-probes live findings to prove reproducibility (boosting confidence to 100%). Generates copy-paste shell-safe cURL PoCs with masked $TOKEN placeholders for instant remediation.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728655" cy="548640"/>
          </a:xfrm>
          <a:prstGeom prst="roundRect">
            <a:avLst/>
          </a:prstGeom>
          <a:solidFill>
            <a:srgbClr val="131A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150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Core Advantage: Entirely autonomous from spec to PoC. No manual test scripting, no synthetic dummy payloads, and zero secrets leaked.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solidFill>
              <a:srgbClr val="070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● WHAT IS UNIQUE ABOUT THIS</a:t>
            </a:r>
          </a:p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Why SentinelAPI Wins: Standing Out Against 200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02945"/>
          </a:solidFill>
          <a:ln>
            <a:solidFill>
              <a:srgbClr val="20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SentinelAPI · AmiHacks 2026 (Track C: Cybersecurity)                                                           Slide 4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572000"/>
          </a:xfrm>
          <a:prstGeom prst="roundRect">
            <a:avLst/>
          </a:prstGeom>
          <a:solidFill>
            <a:srgbClr val="0E1326"/>
          </a:solidFill>
          <a:ln w="19050">
            <a:solidFill>
              <a:srgbClr val="20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10545775" cy="411480"/>
          </a:xfrm>
          <a:prstGeom prst="rect">
            <a:avLst/>
          </a:prstGeom>
          <a:solidFill>
            <a:srgbClr val="131A3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EVALUATION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691640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7171"/>
                </a:solidFill>
                <a:latin typeface="Calibri"/>
              </a:defRPr>
            </a:pPr>
            <a:r>
              <a:t>TYPICAL HACKATHON TEAMS (200 TEAMS)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691640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Calibri"/>
              </a:defRPr>
            </a:pPr>
            <a:r>
              <a:t>SENTINELAPI (OUR SOLUTION)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Vulnerability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Generic SQLi, XSS, or syntax input fuzzing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286000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Complex Multi-User Authorization (BOLA, BFLA, Data Exposure)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Detection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80360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Asks an LLM 'is this vulnerable?' (Hallucinations &amp; Flaky)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880360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100% Deterministic Differential Engine (Weighted Jaccard Distance)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Ownership 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474720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Random ID guessing or hardcoded IDs in test scripts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474720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Autonomous Resource Ownership Discovery from Legitimate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Accuracy &amp;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069080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Vague warnings with high false positive rates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069080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Empirically Proven Live Reproduction + Copy-Paste cURL PoCs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Safety &amp; Egress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663440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Unrestricted flood requests; sends raw tokens to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663440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Scope Guard, 20 RPS Rate Cap, Budget Cap, Zero Egress PII 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578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Production Readiness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257800"/>
            <a:ext cx="3931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Mock scripts or static Figma UI concept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257800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FastAPI Backend + React 19 HUD + Headless CI Gate + Docker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solidFill>
              <a:srgbClr val="070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● KEY FEATURES (PROPRIETARY IP)</a:t>
            </a:r>
          </a:p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The Core Security Engine: 6 Proprietary Deep-Tech Engines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02945"/>
          </a:solidFill>
          <a:ln>
            <a:solidFill>
              <a:srgbClr val="20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SentinelAPI · AmiHacks 2026 (Track C: Cybersecurity)                                                           Slide 5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3455" cy="205740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3047695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ENGINE 1 · Attack Surface Mapper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Parses OpenAPI 3.x specifications with circular $ref resolution. Extracts query/path parameters and scores initial endpoint risk based on state-changing methods.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13455" cy="205740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3047695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  <a:latin typeface="Trebuchet MS"/>
              </a:defRPr>
            </a:pPr>
            <a:r>
              <a:t>ENGINE 2 · Identity &amp; HTTP Executor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Multi-persona JWT session manager enforcing 20 RPS token-bucket rate limits, 1,000 req budgets, and strict host allowlists (assert_in_scope).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13455" cy="205740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10512"/>
            <a:ext cx="3047695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18CF8"/>
                </a:solidFill>
                <a:latin typeface="Trebuchet MS"/>
              </a:defRPr>
            </a:pPr>
            <a:r>
              <a:t>ENGINE 3 · Matrix Compiler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Discovers legitimate resource ownership per user and compiles a mathematical Allow/Deny expectation matrix for every endpoint and object 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413455" cy="205740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96512"/>
            <a:ext cx="3047695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  <a:latin typeface="Trebuchet MS"/>
              </a:defRPr>
            </a:pPr>
            <a:r>
              <a:t>ENGINE 4 · Differential Analyzer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Computes weighted Jaccard payload similarity, HTTP status divergence, and detects leaked sensitive PII fields outside the documented schema.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931920"/>
            <a:ext cx="3413455" cy="205740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096512"/>
            <a:ext cx="3047695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87171"/>
                </a:solidFill>
                <a:latin typeface="Trebuchet MS"/>
              </a:defRPr>
            </a:pPr>
            <a:r>
              <a:t>ENGINE 5 · 6 Security Checks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Dedicated detection suites for BOLA/IDOR (API1), Broken Auth (API2), Data Exposure (API3), Rate Limiting (API4), BFLA Privileges (API5), and Input Anomalies (API8).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931920"/>
            <a:ext cx="3413455" cy="205740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096512"/>
            <a:ext cx="3047695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084FC"/>
                </a:solidFill>
                <a:latin typeface="Trebuchet MS"/>
              </a:defRPr>
            </a:pPr>
            <a:r>
              <a:t>ENGINE 6 · Explainable Risk Scorer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Replaces CVSS guesswork with a 4-part score: Impact (40) + Exploitability (25) + Sensitivity (30) + Evidence (15) with live empirical reproduction.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solidFill>
              <a:srgbClr val="070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● SYSTEM ARCHITECTURE</a:t>
            </a:r>
          </a:p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Decoupled Architecture &amp; Enforced Safety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02945"/>
          </a:solidFill>
          <a:ln>
            <a:solidFill>
              <a:srgbClr val="20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SentinelAPI · AmiHacks 2026 (Track C: Cybersecurity)                                                           Slide 6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481328"/>
            <a:ext cx="10783519" cy="4123944"/>
          </a:xfrm>
          <a:prstGeom prst="roundRect">
            <a:avLst/>
          </a:prstGeom>
          <a:solidFill>
            <a:srgbClr val="070913"/>
          </a:solidFill>
          <a:ln w="12700">
            <a:solidFill>
              <a:srgbClr val="20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10728655" cy="4069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131A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3628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Core Safety Invariant: The deterministic security engine runs 100% offline. Zero credentials or tokens are ever persisted or exposed. The AI Analyst is strictly an evidence-only side-branch with zero raw data egress.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solidFill>
              <a:srgbClr val="070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● KEY FEATURES (DEVSECOPS INTEGRATION)</a:t>
            </a:r>
          </a:p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Shift-Left Automated Security Quality Gate for CI/CD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02945"/>
          </a:solidFill>
          <a:ln>
            <a:solidFill>
              <a:srgbClr val="20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SentinelAPI · AmiHacks 2026 (Track C: Cybersecurity)                                                           Slide 7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3455" cy="237744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3047695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HEADLESS CI GATE CLI</a:t>
            </a:r>
          </a:p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Fails Builds on Violations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Integrates directly into GitHub Actions or GitLab CI. Breaks pull request builds with exit code 1 when CRITICAL or HIGH authorization vulnerabilities are detected.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13455" cy="237744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3047695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4D399"/>
                </a:solidFill>
                <a:latin typeface="Trebuchet MS"/>
              </a:defRPr>
            </a:pPr>
            <a:r>
              <a:t>SARIF CODE SCANNING</a:t>
            </a:r>
          </a:p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Native GitHub Security Alerts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Exports deterministic SARIF, Markdown, and JSON audit reports. Findings appear directly inside GitHub PR code review diffs with line-level remediation hints.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13455" cy="237744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10512"/>
            <a:ext cx="3047695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18CF8"/>
                </a:solidFill>
                <a:latin typeface="Trebuchet MS"/>
              </a:defRPr>
            </a:pPr>
            <a:r>
              <a:t>HERMETIC TEST SANDBOX</a:t>
            </a:r>
          </a:p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Trebuchet MS"/>
              </a:defRPr>
            </a:pPr>
            <a:r>
              <a:t>Verified Zero-Trust Baseline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Ships with realistic vulnerable sandboxes (Retail Store, Healthcare, FinTech). When SECURE_MODE=true is enabled, SentinelAPI verifies 100% controls pass.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10728655" cy="1828800"/>
          </a:xfrm>
          <a:prstGeom prst="roundRect">
            <a:avLst/>
          </a:prstGeom>
          <a:solidFill>
            <a:srgbClr val="131A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1800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GITHUB ACTIONS WORKFLOW INTEGRATION (.github/workflows/ci.yml):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# 1. Trigger automated security scan against PR environment</a:t>
            </a:r>
            <a:br/>
            <a:r>
              <a:t>python -m app.cli scan --spec http://api:8000/openapi.json --base-url http://api:8000 --json-out findings.json</a:t>
            </a:r>
            <a:br/>
            <a:br/>
            <a:r>
              <a:t># 2. Enforce quality gate (fails build on CRITICAL / HIGH findings with confidence &gt;= 0.70)</a:t>
            </a:r>
            <a:br/>
            <a:r>
              <a:t>python scripts/ci_gate.py --findings findings.json --fail-on CRITICAL,HIGH --min-confidence 0.70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solidFill>
              <a:srgbClr val="070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● DEMO SCREENSHOTS (WORKING PROTOTYPE)</a:t>
            </a:r>
          </a:p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Live Tactical Dashboard &amp; Mathematical Differential Inspector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02945"/>
          </a:solidFill>
          <a:ln>
            <a:solidFill>
              <a:srgbClr val="20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SentinelAPI · AmiHacks 2026 (Track C: Cybersecurity)                                                           Slide 8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72430" cy="4023360"/>
          </a:xfrm>
          <a:prstGeom prst="roundRect">
            <a:avLst/>
          </a:prstGeom>
          <a:solidFill>
            <a:srgbClr val="0E1326"/>
          </a:solidFill>
          <a:ln w="19050">
            <a:solidFill>
              <a:srgbClr val="20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iage-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508955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709160"/>
            <a:ext cx="508955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Results Triage Workspace: Real-Time Stream</a:t>
            </a:r>
          </a:p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Live telemetry HUD with verified control counts, severity badges, and one-click filtering across OWASP categories, status codes, and paths.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6830" y="1554480"/>
            <a:ext cx="5272430" cy="4023360"/>
          </a:xfrm>
          <a:prstGeom prst="roundRect">
            <a:avLst/>
          </a:prstGeom>
          <a:solidFill>
            <a:srgbClr val="0E1326"/>
          </a:solidFill>
          <a:ln w="19050">
            <a:solidFill>
              <a:srgbClr val="20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nding-insp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270" y="1645920"/>
            <a:ext cx="5089550" cy="3017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78270" y="4709160"/>
            <a:ext cx="508955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7171"/>
                </a:solidFill>
                <a:latin typeface="Trebuchet MS"/>
              </a:defRPr>
            </a:pPr>
            <a:r>
              <a:t>Differential Inspector: Side-by-Side Proof</a:t>
            </a:r>
          </a:p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Side-by-side baseline vs attack diff showing BOLA breach (200 OK vs 403), leaked PII fields, 4-factor risk breakdown, and copy-paste cURL PoC.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131A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3628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Empirical Evidence: Zero guesswork. Developers receive exact response diffs, 100% verified reproduction badges, and copy-paste shell commands.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solidFill>
              <a:srgbClr val="070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● FUTURE SCOPE (COMMERCIAL ROADMAP)</a:t>
            </a:r>
          </a:p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Beyond the Hackathon: Path to an Enterprise SaaS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02945"/>
          </a:solidFill>
          <a:ln>
            <a:solidFill>
              <a:srgbClr val="20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SentinelAPI · AmiHacks 2026 (Track C: Cybersecurity)                                                           Slide 9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72430" cy="205740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81523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PHASE A · COMMERCIAL SAAS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Open-Source CLI + Paid Cloud Dashboard</a:t>
            </a:r>
          </a:p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Maintain open-source CLI runner for individual developers and CI gates. Commercialize a hosted, multi-tenant SaaS dashboard for engineering organizations with centralized RBAC, historical risk trending, team collaboration, and vulnerability triage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6830" y="1645920"/>
            <a:ext cx="5272430" cy="205740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5430" y="1828800"/>
            <a:ext cx="481523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4D399"/>
                </a:solidFill>
                <a:latin typeface="Trebuchet MS"/>
              </a:defRPr>
            </a:pPr>
            <a:r>
              <a:t>PHASE B · ENTERPRISE AUTH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Enterprise OAuth2 &amp; SSO Negotiation</a:t>
            </a:r>
          </a:p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Extend beyond static JWTs to automated OAuth2 / OIDC PKCE flow negotiation, SAML handshakes, and mTLS client-certificate authentication for complex enterprise banking, fintech, and healthcare environments.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72430" cy="205740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481523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BBF24"/>
                </a:solidFill>
                <a:latin typeface="Trebuchet MS"/>
              </a:defRPr>
            </a:pPr>
            <a:r>
              <a:t>PHASE C · COMPLIANCE MAPPINGS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Custom Regulatory Policy Engines</a:t>
            </a:r>
          </a:p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Provide declarative YAML policy mappings translating authorization findings directly into HIPAA, PCI-DSS, SOC 2, and ISO 27001 audit deliverables with automated executive PDF sign-off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6830" y="3886200"/>
            <a:ext cx="5272430" cy="205740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5430" y="4069080"/>
            <a:ext cx="481523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084FC"/>
                </a:solidFill>
                <a:latin typeface="Trebuchet MS"/>
              </a:defRPr>
            </a:pPr>
            <a:r>
              <a:t>PHASE D · DISTRIBUTED MESH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Distributed Scanner Mesh &amp; Persistence</a:t>
            </a:r>
          </a:p>
          <a:p>
            <a:pPr>
              <a:defRPr sz="1150">
                <a:solidFill>
                  <a:srgbClr val="94A3B8"/>
                </a:solidFill>
                <a:latin typeface="Calibri"/>
              </a:defRPr>
            </a:pPr>
            <a:r>
              <a:t>Deploy distributed Kubernetes scanner workers capable of concurrently auditing large microservice meshes, backed by MongoDB and PostgreSQL persistence adapters for multi-year enterprise audit archiving.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solidFill>
              <a:srgbClr val="070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● CONCLUSION &amp; Q&amp;A</a:t>
            </a:r>
          </a:p>
          <a:p>
            <a:pPr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Team &amp; Project Summary — Questions &amp;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02945"/>
          </a:solidFill>
          <a:ln>
            <a:solidFill>
              <a:srgbClr val="20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SentinelAPI · AmiHacks 2026 (Track C: Cybersecurity)                                                           Slide 10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72430" cy="448056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2379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8BDF8"/>
                </a:solidFill>
                <a:latin typeface="Trebuchet MS"/>
              </a:defRPr>
            </a:pPr>
            <a:r>
              <a:t>CORE TEAM &amp; ARCHITECTURAL CONTRIBUTIONS</a:t>
            </a:r>
          </a:p>
          <a:p>
            <a:pPr>
              <a:spcAft>
                <a:spcPts val="1200"/>
              </a:spcAft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Tanuj — Lead Security Architect &amp; Full-Stack Engineer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Core Security Engine: Differential response analyzer, ground-truth authorization matrix compiler, and 6 modular OWASP security checks.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Execution &amp; Safety Infrastructure: Token-bucket HTTP executor, strict immutable scope guard, rate/budget caps, and multi-persona JWT orchestrator.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Backend &amp; Storage: FastAPI async orchestrator, real-time SSE telemetry stream, and atomic JSON store with secret leak guards.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Tactical Web UI: React 19/Vite dashboard, Results Triage Workspace, Authorization Heatmap, and Differential Inspector.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• CI Quality Gate: Headless ci_gate.py, Docker Compose testbed, live empirical reproduction, and zero-egress AI analyst boundary.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6830" y="1645920"/>
            <a:ext cx="5272430" cy="4480560"/>
          </a:xfrm>
          <a:prstGeom prst="roundRect">
            <a:avLst/>
          </a:prstGeom>
          <a:solidFill>
            <a:srgbClr val="0E1326"/>
          </a:solidFill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150" y="1828800"/>
            <a:ext cx="472379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818CF8"/>
                </a:solidFill>
                <a:latin typeface="Trebuchet MS"/>
              </a:defRPr>
            </a:pPr>
            <a:r>
              <a:t>PROJECT SUMMARY &amp; LIVE ACCESS</a:t>
            </a:r>
          </a:p>
          <a:p>
            <a:pPr>
              <a:spcAft>
                <a:spcPts val="1600"/>
              </a:spcAft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“SentinelAPI stops API authorization breaches before code hits production — fully autonomous, mathematically verified, with reproducible evidence and zero secrets leaked.”</a:t>
            </a:r>
          </a:p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GitHub Repository: </a:t>
            </a:r>
            <a:r>
              <a:rPr b="0">
                <a:solidFill>
                  <a:srgbClr val="FFFFFF"/>
                </a:solidFill>
                <a:latin typeface="Consolas"/>
              </a:rPr>
              <a:t>https://github.com/x03tanuj/sentinel-api</a:t>
            </a:r>
          </a:p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Live Web Dashboard: </a:t>
            </a:r>
            <a:r>
              <a:rPr b="0">
                <a:solidFill>
                  <a:srgbClr val="FFFFFF"/>
                </a:solidFill>
                <a:latin typeface="Consolas"/>
              </a:rPr>
              <a:t>http://localhost:8080</a:t>
            </a:r>
          </a:p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Automated Demo Script: </a:t>
            </a:r>
            <a:r>
              <a:rPr b="0">
                <a:solidFill>
                  <a:srgbClr val="FFFFFF"/>
                </a:solidFill>
                <a:latin typeface="Consolas"/>
              </a:rPr>
              <a:t>bash scripts/demo.sh</a:t>
            </a:r>
          </a:p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  <a:latin typeface="Trebuchet MS"/>
              </a:defRPr>
            </a:pPr>
            <a:r>
              <a:t>Architecture Diagram: </a:t>
            </a:r>
            <a:r>
              <a:rPr b="0">
                <a:solidFill>
                  <a:srgbClr val="FFFFFF"/>
                </a:solidFill>
                <a:latin typeface="Consolas"/>
              </a:rPr>
              <a:t>docs/architecture.png (2400×1400)</a:t>
            </a:r>
          </a:p>
          <a:p>
            <a:br/>
            <a:pPr>
              <a:defRPr sz="1500" b="1">
                <a:solidFill>
                  <a:srgbClr val="34D399"/>
                </a:solidFill>
                <a:latin typeface="Trebuchet MS"/>
              </a:defRPr>
            </a:pPr>
            <a:r>
              <a:t>Thank You! We are now open for Q&amp;A and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