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F"/>
          </a:solidFill>
          <a:ln>
            <a:solidFill>
              <a:srgbClr val="0608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645920" cy="50800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  <a:latin typeface="Inter"/>
              </a:defRPr>
            </a:pPr>
            <a:r>
              <a:t>TRACK C — CYBERSECURITY &amp; API SECURITY</a:t>
            </a:r>
          </a:p>
          <a:p>
            <a:pPr>
              <a:spcAft>
                <a:spcPts val="800"/>
              </a:spcAft>
              <a:defRPr sz="4600" b="1">
                <a:solidFill>
                  <a:srgbClr val="F8FAFC"/>
                </a:solidFill>
                <a:latin typeface="Inter"/>
              </a:defRPr>
            </a:pPr>
            <a:r>
              <a:t>SentinelAPI</a:t>
            </a:r>
          </a:p>
          <a:p>
            <a:pPr>
              <a:spcAft>
                <a:spcPts val="1400"/>
              </a:spcAft>
              <a:defRPr sz="2200" b="1">
                <a:solidFill>
                  <a:srgbClr val="6366F1"/>
                </a:solidFill>
                <a:latin typeface="Inter"/>
              </a:defRPr>
            </a:pPr>
            <a:r>
              <a:t>Autonomous Differential API Security Testing</a:t>
            </a:r>
          </a:p>
          <a:p>
            <a:pPr>
              <a:defRPr sz="1300">
                <a:solidFill>
                  <a:srgbClr val="94A3B8"/>
                </a:solidFill>
                <a:latin typeface="Inter"/>
              </a:defRPr>
            </a:pPr>
            <a:r>
              <a:t>Ingesting OpenAPI 3.x specifications, dynamically authenticating multiple test personas, learning ground-truth resource ownership without brute-forcing, and executing differential response analysis to eliminate authorization blindspots before production.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3413455" cy="118872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251960"/>
            <a:ext cx="3047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Inter"/>
              </a:defRPr>
            </a:pPr>
            <a:r>
              <a:t>OWASP API TOP 10</a:t>
            </a:r>
          </a:p>
          <a:p>
            <a:pPr>
              <a:defRPr sz="1000">
                <a:solidFill>
                  <a:srgbClr val="94A3B8"/>
                </a:solidFill>
                <a:latin typeface="Inter"/>
              </a:defRPr>
            </a:pPr>
            <a:r>
              <a:t>Automated detection of BOLA/IDOR, BFLA, and excessive data exposure.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114800"/>
            <a:ext cx="3413455" cy="118872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4251960"/>
            <a:ext cx="3047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Inter"/>
              </a:defRPr>
            </a:pPr>
            <a:r>
              <a:t>EMPIRICAL PROOF</a:t>
            </a:r>
          </a:p>
          <a:p>
            <a:pPr>
              <a:defRPr sz="1000">
                <a:solidFill>
                  <a:srgbClr val="94A3B8"/>
                </a:solidFill>
                <a:latin typeface="Inter"/>
              </a:defRPr>
            </a:pPr>
            <a:r>
              <a:t>Zero false positives via live attack reproduction and reproducible cURL PoCs.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114800"/>
            <a:ext cx="3413455" cy="118872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251960"/>
            <a:ext cx="3047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Inter"/>
              </a:defRPr>
            </a:pPr>
            <a:r>
              <a:t>ENTERPRISE GUARDRAILS</a:t>
            </a:r>
          </a:p>
          <a:p>
            <a:pPr>
              <a:defRPr sz="1000">
                <a:solidFill>
                  <a:srgbClr val="94A3B8"/>
                </a:solidFill>
                <a:latin typeface="Inter"/>
              </a:defRPr>
            </a:pPr>
            <a:r>
              <a:t>Strict scope guards, 20 RPS rate cap, zero secrets leaked, evidence-only AI.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86400"/>
            <a:ext cx="10728655" cy="685800"/>
          </a:xfrm>
          <a:prstGeom prst="roundRect">
            <a:avLst/>
          </a:prstGeom>
          <a:solidFill>
            <a:srgbClr val="151B2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577840"/>
            <a:ext cx="103628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  <a:latin typeface="Inter"/>
              </a:defRPr>
            </a:pPr>
            <a:r>
              <a:t>Lead Architect: Tanuj  |  Event: AmiHacks 2026  |  GitHub: https://github.com/x03tanuj/sentinel-api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F"/>
          </a:solidFill>
          <a:ln>
            <a:solidFill>
              <a:srgbClr val="0608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8BDF8"/>
                </a:solidFill>
                <a:latin typeface="Inter"/>
              </a:defRPr>
            </a:pPr>
            <a:r>
              <a:t>PROBLEM STATEMENT</a:t>
            </a:r>
          </a:p>
          <a:p>
            <a:pPr>
              <a:defRPr sz="2200" b="1">
                <a:solidFill>
                  <a:srgbClr val="F8FAFC"/>
                </a:solidFill>
                <a:latin typeface="Inter"/>
              </a:defRPr>
            </a:pPr>
            <a:r>
              <a:t>The API Authorization Blindspot in Modern Software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9050"/>
          </a:xfrm>
          <a:prstGeom prst="rect">
            <a:avLst/>
          </a:prstGeom>
          <a:solidFill>
            <a:srgbClr val="232D42"/>
          </a:solidFill>
          <a:ln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t>SentinelAPI · AmiHacks 2026 (Track C: Cybersecurity)                                                           Slide 2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8655" cy="105156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9728" cy="1051560"/>
          </a:xfrm>
          <a:prstGeom prst="round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72768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EF4444"/>
                </a:solidFill>
                <a:latin typeface="Inter"/>
              </a:defRPr>
            </a:pPr>
            <a:r>
              <a:t>OWASP API #1 THREAT  —  Broken Object Level Authorization (BOLA / IDOR)</a:t>
            </a:r>
          </a:p>
          <a:p>
            <a:pPr>
              <a:defRPr sz="1050">
                <a:solidFill>
                  <a:srgbClr val="94A3B8"/>
                </a:solidFill>
                <a:latin typeface="Inter"/>
              </a:defRPr>
            </a:pPr>
            <a:r>
              <a:t>BOLA remains the undisputed #1 critical vulnerability on the OWASP API Security Top 10. A user simply replaces id=101 with id=102 in an API request and immediately reads or alters another customer's private data, invoices, or medical records without authorization.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51760"/>
            <a:ext cx="10728655" cy="105156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651760"/>
            <a:ext cx="109728" cy="1051560"/>
          </a:xfrm>
          <a:prstGeom prst="round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61488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F97316"/>
                </a:solidFill>
                <a:latin typeface="Inter"/>
              </a:defRPr>
            </a:pPr>
            <a:r>
              <a:t>TRADITIONAL SCANNERS ARE BLIND  —  DAST &amp; SAST Cannot Understand Multi-User Business Logic</a:t>
            </a:r>
          </a:p>
          <a:p>
            <a:pPr>
              <a:defRPr sz="1050">
                <a:solidFill>
                  <a:srgbClr val="94A3B8"/>
                </a:solidFill>
                <a:latin typeface="Inter"/>
              </a:defRPr>
            </a:pPr>
            <a:r>
              <a:t>Traditional security tools test for syntax injection (SQLi, XSS) and missing headers. They operate in a single-user sandbox and have zero understanding of object ownership, tenant boundaries, or role privileges across multiple user accounts.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728655" cy="105156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109728" cy="1051560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950208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F59E0B"/>
                </a:solidFill>
                <a:latin typeface="Inter"/>
              </a:defRPr>
            </a:pPr>
            <a:r>
              <a:t>MANUAL AUDITS MISS REGRESSIONS  —  Fast Agile CI/CD Cycles Outpace Manual Penetration Testing</a:t>
            </a:r>
          </a:p>
          <a:p>
            <a:pPr>
              <a:defRPr sz="1050">
                <a:solidFill>
                  <a:srgbClr val="94A3B8"/>
                </a:solidFill>
                <a:latin typeface="Inter"/>
              </a:defRPr>
            </a:pPr>
            <a:r>
              <a:t>Engineering teams ship dozens of API changes weekly. Manual penetration tests are expensive, infrequent (quarterly/annual), and produce point-in-time reports that miss day-to-day authorization regressions introduced during active development.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029200"/>
            <a:ext cx="10728655" cy="105156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5029200"/>
            <a:ext cx="109728" cy="1051560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138928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38BDF8"/>
                </a:solidFill>
                <a:latin typeface="Inter"/>
              </a:defRPr>
            </a:pPr>
            <a:r>
              <a:t>HIGH BLAST RADIUS &amp; DATA LEAKS  —  Silent Exploitation Leads to Severe Regulatory &amp; Financial Fallout</a:t>
            </a:r>
          </a:p>
          <a:p>
            <a:pPr>
              <a:defRPr sz="1050">
                <a:solidFill>
                  <a:srgbClr val="94A3B8"/>
                </a:solidFill>
                <a:latin typeface="Inter"/>
              </a:defRPr>
            </a:pPr>
            <a:r>
              <a:t>Authorization flaws are completely silent—firewalls and WAFs see valid HTTP 200 OK responses with legitimate JSON formatting. Flaws evade perimeter defenses, causing catastrophic GDPR, HIPAA, and data-breach compliance violations.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F"/>
          </a:solidFill>
          <a:ln>
            <a:solidFill>
              <a:srgbClr val="0608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8BDF8"/>
                </a:solidFill>
                <a:latin typeface="Inter"/>
              </a:defRPr>
            </a:pPr>
            <a:r>
              <a:t>PROPOSED SOLUTION</a:t>
            </a:r>
          </a:p>
          <a:p>
            <a:pPr>
              <a:defRPr sz="2200" b="1">
                <a:solidFill>
                  <a:srgbClr val="F8FAFC"/>
                </a:solidFill>
                <a:latin typeface="Inter"/>
              </a:defRPr>
            </a:pPr>
            <a:r>
              <a:t>Autonomous Differential API Security 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9050"/>
          </a:xfrm>
          <a:prstGeom prst="rect">
            <a:avLst/>
          </a:prstGeom>
          <a:solidFill>
            <a:srgbClr val="232D42"/>
          </a:solidFill>
          <a:ln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t>SentinelAPI · AmiHacks 2026 (Track C: Cybersecurity)                                                           Slide 3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8655" cy="822960"/>
          </a:xfrm>
          <a:prstGeom prst="roundRect">
            <a:avLst/>
          </a:prstGeom>
          <a:solidFill>
            <a:srgbClr val="151B2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36192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8FAFC"/>
                </a:solidFill>
                <a:latin typeface="Inter"/>
              </a:defRPr>
            </a:pPr>
            <a:r>
              <a:t>SentinelAPI solves the authorization blindspot by reading OpenAPI contracts, orchestrating multi-persona credentials, discovering legitimate resource ownership, and proving access violations mathematically via differential response comparison.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68880"/>
            <a:ext cx="5272430" cy="173736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33472"/>
            <a:ext cx="4815230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38BDF8"/>
                </a:solidFill>
                <a:latin typeface="Inter"/>
              </a:defRPr>
            </a:pPr>
            <a:r>
              <a:t>1. SPEC-DRIVEN ATTACK SURFACE MAPPING</a:t>
            </a:r>
          </a:p>
          <a:p>
            <a:pPr>
              <a:defRPr sz="1050">
                <a:solidFill>
                  <a:srgbClr val="94A3B8"/>
                </a:solidFill>
                <a:latin typeface="Inter"/>
              </a:defRPr>
            </a:pPr>
            <a:r>
              <a:t>Ingests OpenAPI 3.x contracts from URLs or JSON/YAML. Automatically validates schemas, resolves complex circular $ref pointers, and prioritizes endpoints based on state-changing operations and authentication requirements.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6830" y="2468880"/>
            <a:ext cx="5272430" cy="173736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5430" y="2633472"/>
            <a:ext cx="4815230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0B981"/>
                </a:solidFill>
                <a:latin typeface="Inter"/>
              </a:defRPr>
            </a:pPr>
            <a:r>
              <a:t>2. MULTI-PERSONA GROUND-TRUTH MATRIX</a:t>
            </a:r>
          </a:p>
          <a:p>
            <a:pPr>
              <a:defRPr sz="1050">
                <a:solidFill>
                  <a:srgbClr val="94A3B8"/>
                </a:solidFill>
                <a:latin typeface="Inter"/>
              </a:defRPr>
            </a:pPr>
            <a:r>
              <a:t>Logs in distinct test personas (userA, userB, admin) via JWT/OAuth2. Without guessing random IDs, it queries legitimate endpoints to learn owned resources and compiles a mathematical Allow/Deny expectation matrix.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5272430" cy="173736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507992"/>
            <a:ext cx="4815230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59E0B"/>
                </a:solidFill>
                <a:latin typeface="Inter"/>
              </a:defRPr>
            </a:pPr>
            <a:r>
              <a:t>3. DIFFERENTIAL RESPONSE ANALYSIS</a:t>
            </a:r>
          </a:p>
          <a:p>
            <a:pPr>
              <a:defRPr sz="1050">
                <a:solidFill>
                  <a:srgbClr val="94A3B8"/>
                </a:solidFill>
                <a:latin typeface="Inter"/>
              </a:defRPr>
            </a:pPr>
            <a:r>
              <a:t>Executes rate-limited cross-user attack probes. Analyzes baseline vs attack responses using weighted Jaccard similarity distance, status code shifts, and sensitive field leakage to detect unauthorized access.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6830" y="4343400"/>
            <a:ext cx="5272430" cy="173736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5430" y="4507992"/>
            <a:ext cx="4815230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EF4444"/>
                </a:solidFill>
                <a:latin typeface="Inter"/>
              </a:defRPr>
            </a:pPr>
            <a:r>
              <a:t>4. EMPIRICAL PROOF &amp; REPRODUCIBLE POCS</a:t>
            </a:r>
          </a:p>
          <a:p>
            <a:pPr>
              <a:defRPr sz="1050">
                <a:solidFill>
                  <a:srgbClr val="94A3B8"/>
                </a:solidFill>
                <a:latin typeface="Inter"/>
              </a:defRPr>
            </a:pPr>
            <a:r>
              <a:t>Re-executes top findings against the live API to empirically prove reproducibility and eliminate false positives. Generates copy-pasteable, shell-safe cURL PoCs with masked tokens for immediate developer remediation.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F"/>
          </a:solidFill>
          <a:ln>
            <a:solidFill>
              <a:srgbClr val="0608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8BDF8"/>
                </a:solidFill>
                <a:latin typeface="Inter"/>
              </a:defRPr>
            </a:pPr>
            <a:r>
              <a:t>SYSTEM ARCHITECTURE</a:t>
            </a:r>
          </a:p>
          <a:p>
            <a:pPr>
              <a:defRPr sz="2200" b="1">
                <a:solidFill>
                  <a:srgbClr val="F8FAFC"/>
                </a:solidFill>
                <a:latin typeface="Inter"/>
              </a:defRPr>
            </a:pPr>
            <a:r>
              <a:t>Decoupled Architecture &amp; Enforced Safety Boundaries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9050"/>
          </a:xfrm>
          <a:prstGeom prst="rect">
            <a:avLst/>
          </a:prstGeom>
          <a:solidFill>
            <a:srgbClr val="232D42"/>
          </a:solidFill>
          <a:ln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t>SentinelAPI · AmiHacks 2026 (Track C: Cybersecurity)                                                           Slide 4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380744"/>
            <a:ext cx="10801807" cy="4370832"/>
          </a:xfrm>
          <a:prstGeom prst="roundRect">
            <a:avLst/>
          </a:prstGeom>
          <a:solidFill>
            <a:srgbClr val="06080F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10728655" cy="42976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806440"/>
            <a:ext cx="10728655" cy="50292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879592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Inter"/>
              </a:defRPr>
            </a:pPr>
            <a:r>
              <a:t>Core Invariant: Deterministic Security Engine is strictly decoupled from presentation and storage. The AI Analyst is an evidence-only side-branch with zero raw data egress.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F"/>
          </a:solidFill>
          <a:ln>
            <a:solidFill>
              <a:srgbClr val="0608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8BDF8"/>
                </a:solidFill>
                <a:latin typeface="Inter"/>
              </a:defRPr>
            </a:pPr>
            <a:r>
              <a:t>KEY TECHNOLOGIES</a:t>
            </a:r>
          </a:p>
          <a:p>
            <a:pPr>
              <a:defRPr sz="2200" b="1">
                <a:solidFill>
                  <a:srgbClr val="F8FAFC"/>
                </a:solidFill>
                <a:latin typeface="Inter"/>
              </a:defRPr>
            </a:pPr>
            <a:r>
              <a:t>Proprietary Judged IP: 6 Core Engineering Engines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9050"/>
          </a:xfrm>
          <a:prstGeom prst="rect">
            <a:avLst/>
          </a:prstGeom>
          <a:solidFill>
            <a:srgbClr val="232D42"/>
          </a:solidFill>
          <a:ln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t>SentinelAPI · AmiHacks 2026 (Track C: Cybersecurity)                                                           Slide 5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13455" cy="214884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3413455" cy="38100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3047695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38BDF8"/>
                </a:solidFill>
                <a:latin typeface="Inter"/>
              </a:defRPr>
            </a:pPr>
            <a:r>
              <a:t>ATTACK SURFACE MAPPER</a:t>
            </a:r>
          </a:p>
          <a:p>
            <a:pPr>
              <a:defRPr sz="1000">
                <a:solidFill>
                  <a:srgbClr val="94A3B8"/>
                </a:solidFill>
                <a:latin typeface="Inter"/>
              </a:defRPr>
            </a:pPr>
            <a:r>
              <a:t>Parses and dereferences OpenAPI 3.x contracts with circular $ref isolation. Extracts parameters, routes, auth constraints, and calculates preliminary risk prioritization scores.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413455" cy="214884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463040"/>
            <a:ext cx="3413455" cy="381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27632"/>
            <a:ext cx="3047695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10B981"/>
                </a:solidFill>
                <a:latin typeface="Inter"/>
              </a:defRPr>
            </a:pPr>
            <a:r>
              <a:t>IDENTITY &amp; EXECUTION ENGINE</a:t>
            </a:r>
          </a:p>
          <a:p>
            <a:pPr>
              <a:defRPr sz="1000">
                <a:solidFill>
                  <a:srgbClr val="94A3B8"/>
                </a:solidFill>
                <a:latin typeface="Inter"/>
              </a:defRPr>
            </a:pPr>
            <a:r>
              <a:t>Orchestrates multi-user persona sessions via JWT/Bearer auth. Dispatches probes through token-bucket rate limiter (20 RPS) and immutable host allowlists (assert_in_scope).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413455" cy="214884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463040"/>
            <a:ext cx="3413455" cy="38100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627632"/>
            <a:ext cx="3047695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6366F1"/>
                </a:solidFill>
                <a:latin typeface="Inter"/>
              </a:defRPr>
            </a:pPr>
            <a:r>
              <a:t>GROUND-TRUTH MATRIX COMPILER</a:t>
            </a:r>
          </a:p>
          <a:p>
            <a:pPr>
              <a:defRPr sz="1000">
                <a:solidFill>
                  <a:srgbClr val="94A3B8"/>
                </a:solidFill>
                <a:latin typeface="Inter"/>
              </a:defRPr>
            </a:pPr>
            <a:r>
              <a:t>Queries legitimate profile &amp; collection GET endpoints to dynamically discover resources owned by each persona, constructing an explicit mathematical Allow/Deny expectation matrix.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794760"/>
            <a:ext cx="3413455" cy="214884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794760"/>
            <a:ext cx="3413455" cy="3810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959352"/>
            <a:ext cx="3047695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59E0B"/>
                </a:solidFill>
                <a:latin typeface="Inter"/>
              </a:defRPr>
            </a:pPr>
            <a:r>
              <a:t>DIFFERENTIAL ANALYSIS ENGINE</a:t>
            </a:r>
          </a:p>
          <a:p>
            <a:pPr>
              <a:defRPr sz="1000">
                <a:solidFill>
                  <a:srgbClr val="94A3B8"/>
                </a:solidFill>
                <a:latin typeface="Inter"/>
              </a:defRPr>
            </a:pPr>
            <a:r>
              <a:t>Compares attack vs legitimate baseline responses using weighted Jaccard similarity distance, status-code divergence, and sensitive-field classification.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794760"/>
            <a:ext cx="3413455" cy="214884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89120" y="3794760"/>
            <a:ext cx="3413455" cy="38100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3959352"/>
            <a:ext cx="3047695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EF4444"/>
                </a:solidFill>
                <a:latin typeface="Inter"/>
              </a:defRPr>
            </a:pPr>
            <a:r>
              <a:t>6 MODULAR SECURITY CHECKS</a:t>
            </a:r>
          </a:p>
          <a:p>
            <a:pPr>
              <a:defRPr sz="1000">
                <a:solidFill>
                  <a:srgbClr val="94A3B8"/>
                </a:solidFill>
                <a:latin typeface="Inter"/>
              </a:defRPr>
            </a:pPr>
            <a:r>
              <a:t>Extensible check suite testing BOLA/IDOR (API1), Broken Authentication (API2), Excessive Data Exposure (API3), Rate Limiting (API4), BFLA Privileges (API5), and Input Handling (API8).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3794760"/>
            <a:ext cx="3413455" cy="214884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3794760"/>
            <a:ext cx="3413455" cy="38100"/>
          </a:xfrm>
          <a:prstGeom prst="rect">
            <a:avLst/>
          </a:prstGeom>
          <a:solidFill>
            <a:srgbClr val="A855F7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3959352"/>
            <a:ext cx="3047695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A855F7"/>
                </a:solidFill>
                <a:latin typeface="Inter"/>
              </a:defRPr>
            </a:pPr>
            <a:r>
              <a:t>EXPLAINABLE RISK &amp; CONFIDENCE</a:t>
            </a:r>
          </a:p>
          <a:p>
            <a:pPr>
              <a:defRPr sz="1000">
                <a:solidFill>
                  <a:srgbClr val="94A3B8"/>
                </a:solidFill>
                <a:latin typeface="Inter"/>
              </a:defRPr>
            </a:pPr>
            <a:r>
              <a:t>Replaces arbitrary CVSS guesswork with a transparent 4-part score: Impact (0-40) + Exploitability (0-25) + Sensitivity (0-30) + Evidence Strength (0-15) plus empirical reproduction.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F"/>
          </a:solidFill>
          <a:ln>
            <a:solidFill>
              <a:srgbClr val="0608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8BDF8"/>
                </a:solidFill>
                <a:latin typeface="Inter"/>
              </a:defRPr>
            </a:pPr>
            <a:r>
              <a:t>TECHNICAL HIGHLIGHTS</a:t>
            </a:r>
          </a:p>
          <a:p>
            <a:pPr>
              <a:defRPr sz="2200" b="1">
                <a:solidFill>
                  <a:srgbClr val="F8FAFC"/>
                </a:solidFill>
                <a:latin typeface="Inter"/>
              </a:defRPr>
            </a:pPr>
            <a:r>
              <a:t>Production Safety Guardrails &amp; Zero-Trust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9050"/>
          </a:xfrm>
          <a:prstGeom prst="rect">
            <a:avLst/>
          </a:prstGeom>
          <a:solidFill>
            <a:srgbClr val="232D42"/>
          </a:solidFill>
          <a:ln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t>SentinelAPI · AmiHacks 2026 (Track C: Cybersecurity)                                                           Slide 6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72430" cy="466344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45920"/>
            <a:ext cx="472379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8BDF8"/>
                </a:solidFill>
                <a:latin typeface="Inter"/>
              </a:defRPr>
            </a:pPr>
            <a:r>
              <a:t>ENFORCED SAFETY &amp; AUDIT BOUNDARIES</a:t>
            </a:r>
          </a:p>
          <a:p>
            <a:pPr>
              <a:spcAft>
                <a:spcPts val="600"/>
              </a:spcAft>
              <a:defRPr sz="1000" b="1">
                <a:solidFill>
                  <a:srgbClr val="F8FAFC"/>
                </a:solidFill>
                <a:latin typeface="Inter"/>
              </a:defRPr>
            </a:pPr>
            <a:r>
              <a:t>• Scope Guard (assert_in_scope): </a:t>
            </a:r>
            <a:r>
              <a:rPr b="0">
                <a:solidFill>
                  <a:srgbClr val="94A3B8"/>
                </a:solidFill>
                <a:latin typeface="Inter"/>
              </a:rPr>
              <a:t>Hardcoded validation against explicit ALLOWED_HOSTS. Any probe dispatch to third-party domains or unauthorized IPs raises ScopeViolationError immediately.</a:t>
            </a:r>
          </a:p>
          <a:p>
            <a:pPr>
              <a:spcAft>
                <a:spcPts val="600"/>
              </a:spcAft>
              <a:defRPr sz="1000" b="1">
                <a:solidFill>
                  <a:srgbClr val="F8FAFC"/>
                </a:solidFill>
                <a:latin typeface="Inter"/>
              </a:defRPr>
            </a:pPr>
            <a:r>
              <a:t>• Token-Bucket Rate Limiter: </a:t>
            </a:r>
            <a:r>
              <a:rPr b="0">
                <a:solidFill>
                  <a:srgbClr val="94A3B8"/>
                </a:solidFill>
                <a:latin typeface="Inter"/>
              </a:rPr>
              <a:t>Restricts scanning speed to 20 RPS to prevent denial-of-service, API degradation, or accidental infrastructure lockout on target services.</a:t>
            </a:r>
          </a:p>
          <a:p>
            <a:pPr>
              <a:spcAft>
                <a:spcPts val="600"/>
              </a:spcAft>
              <a:defRPr sz="1000" b="1">
                <a:solidFill>
                  <a:srgbClr val="F8FAFC"/>
                </a:solidFill>
                <a:latin typeface="Inter"/>
              </a:defRPr>
            </a:pPr>
            <a:r>
              <a:t>• Strict Request Budget Cap: </a:t>
            </a:r>
            <a:r>
              <a:rPr b="0">
                <a:solidFill>
                  <a:srgbClr val="94A3B8"/>
                </a:solidFill>
                <a:latin typeface="Inter"/>
              </a:rPr>
              <a:t>Hard maximum of 1,000 requests per scan prevents infinite loops, recursive endpoint traps, and runaway probe generation.</a:t>
            </a:r>
          </a:p>
          <a:p>
            <a:pPr>
              <a:spcAft>
                <a:spcPts val="600"/>
              </a:spcAft>
              <a:defRPr sz="1000" b="1">
                <a:solidFill>
                  <a:srgbClr val="F8FAFC"/>
                </a:solidFill>
                <a:latin typeface="Inter"/>
              </a:defRPr>
            </a:pPr>
            <a:r>
              <a:t>• Defense-in-Depth Redaction: </a:t>
            </a:r>
            <a:r>
              <a:rPr b="0">
                <a:solidFill>
                  <a:srgbClr val="94A3B8"/>
                </a:solidFill>
                <a:latin typeface="Inter"/>
              </a:rPr>
              <a:t>Tokens, Authorization headers, and passwords are permanently scrubbed before disk storage, API responses, or UI rendering. PoCs use $TOKEN.</a:t>
            </a:r>
          </a:p>
          <a:p>
            <a:pPr>
              <a:spcAft>
                <a:spcPts val="600"/>
              </a:spcAft>
              <a:defRPr sz="1000" b="1">
                <a:solidFill>
                  <a:srgbClr val="F8FAFC"/>
                </a:solidFill>
                <a:latin typeface="Inter"/>
              </a:defRPr>
            </a:pPr>
            <a:r>
              <a:t>• Shielded State Cleanup: </a:t>
            </a:r>
            <a:r>
              <a:rPr b="0">
                <a:solidFill>
                  <a:srgbClr val="94A3B8"/>
                </a:solidFill>
                <a:latin typeface="Inter"/>
              </a:rPr>
              <a:t>Objects created during tests are deleted in shielded finally blocks, ensuring zero residual artifacts remain on target APIs.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6830" y="1463040"/>
            <a:ext cx="5272430" cy="466344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150" y="1645920"/>
            <a:ext cx="472379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6366F1"/>
                </a:solidFill>
                <a:latin typeface="Inter"/>
              </a:defRPr>
            </a:pPr>
            <a:r>
              <a:t>ZERO-LEAK AI ANALYST &amp; MODERN TECH STACK</a:t>
            </a:r>
          </a:p>
          <a:p>
            <a:pPr>
              <a:spcAft>
                <a:spcPts val="600"/>
              </a:spcAft>
              <a:defRPr sz="1000" b="1">
                <a:solidFill>
                  <a:srgbClr val="F8FAFC"/>
                </a:solidFill>
                <a:latin typeface="Inter"/>
              </a:defRPr>
            </a:pPr>
            <a:r>
              <a:t>• Evidence-Only AI Analyst: </a:t>
            </a:r>
            <a:r>
              <a:rPr b="0">
                <a:solidFill>
                  <a:srgbClr val="94A3B8"/>
                </a:solidFill>
                <a:latin typeface="Inter"/>
              </a:rPr>
              <a:t>Optional side-branch (Groq, OpenRouter, Gemini). The LLM NEVER detects vulnerabilities, modifies severity, or influences scan outcomes.</a:t>
            </a:r>
          </a:p>
          <a:p>
            <a:pPr>
              <a:spcAft>
                <a:spcPts val="600"/>
              </a:spcAft>
              <a:defRPr sz="1000" b="1">
                <a:solidFill>
                  <a:srgbClr val="F8FAFC"/>
                </a:solidFill>
                <a:latin typeface="Inter"/>
              </a:defRPr>
            </a:pPr>
            <a:r>
              <a:t>• Pre-Flight Egress Assertion: </a:t>
            </a:r>
            <a:r>
              <a:rPr b="0">
                <a:solidFill>
                  <a:srgbClr val="94A3B8"/>
                </a:solidFill>
                <a:latin typeface="Inter"/>
              </a:rPr>
              <a:t>assert_payload_safe() runs regex scans on outgoing payloads. Egress is terminated if tokens, SSNs, credit cards, or internal IPs are detected.</a:t>
            </a:r>
          </a:p>
          <a:p>
            <a:pPr>
              <a:spcAft>
                <a:spcPts val="600"/>
              </a:spcAft>
              <a:defRPr sz="1000" b="1">
                <a:solidFill>
                  <a:srgbClr val="F8FAFC"/>
                </a:solidFill>
                <a:latin typeface="Inter"/>
              </a:defRPr>
            </a:pPr>
            <a:r>
              <a:t>• Deterministic Fallback: </a:t>
            </a:r>
            <a:r>
              <a:rPr b="0">
                <a:solidFill>
                  <a:srgbClr val="94A3B8"/>
                </a:solidFill>
                <a:latin typeface="Inter"/>
              </a:rPr>
              <a:t>If the LLM provider times out, returns malformed JSON, or exceeds rate limits, pre-compiled deterministic remediation templates activate seamlessly.</a:t>
            </a:r>
          </a:p>
          <a:p>
            <a:pPr>
              <a:spcAft>
                <a:spcPts val="600"/>
              </a:spcAft>
              <a:defRPr sz="1000" b="1">
                <a:solidFill>
                  <a:srgbClr val="F8FAFC"/>
                </a:solidFill>
                <a:latin typeface="Inter"/>
              </a:defRPr>
            </a:pPr>
            <a:r>
              <a:t>• High-Performance Backend: </a:t>
            </a:r>
            <a:r>
              <a:rPr b="0">
                <a:solidFill>
                  <a:srgbClr val="94A3B8"/>
                </a:solidFill>
                <a:latin typeface="Inter"/>
              </a:rPr>
              <a:t>Python 3.11/3.14 with FastAPI async orchestrator, Pydantic v2 schemas, in-memory atomic JSON store (scans.json), and real-time SSE telemetry.</a:t>
            </a:r>
          </a:p>
          <a:p>
            <a:pPr>
              <a:spcAft>
                <a:spcPts val="600"/>
              </a:spcAft>
              <a:defRPr sz="1000" b="1">
                <a:solidFill>
                  <a:srgbClr val="F8FAFC"/>
                </a:solidFill>
                <a:latin typeface="Inter"/>
              </a:defRPr>
            </a:pPr>
            <a:r>
              <a:t>• Tactical Developer UI: </a:t>
            </a:r>
            <a:r>
              <a:rPr b="0">
                <a:solidFill>
                  <a:srgbClr val="94A3B8"/>
                </a:solidFill>
                <a:latin typeface="Inter"/>
              </a:rPr>
              <a:t>React 19, Vite, Tailwind CSS with tactical design system tokens, WCAG AA contrast standards, and responsive desktop dashboards.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F"/>
          </a:solidFill>
          <a:ln>
            <a:solidFill>
              <a:srgbClr val="0608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8BDF8"/>
                </a:solidFill>
                <a:latin typeface="Inter"/>
              </a:defRPr>
            </a:pPr>
            <a:r>
              <a:t>LIVE PRODUCT DEMO</a:t>
            </a:r>
          </a:p>
          <a:p>
            <a:pPr>
              <a:defRPr sz="2200" b="1">
                <a:solidFill>
                  <a:srgbClr val="F8FAFC"/>
                </a:solidFill>
                <a:latin typeface="Inter"/>
              </a:defRPr>
            </a:pPr>
            <a:r>
              <a:t>Developer-First Tactical Triage &amp; Differential Inspector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9050"/>
          </a:xfrm>
          <a:prstGeom prst="rect">
            <a:avLst/>
          </a:prstGeom>
          <a:solidFill>
            <a:srgbClr val="232D42"/>
          </a:solidFill>
          <a:ln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t>SentinelAPI · AmiHacks 2026 (Track C: Cybersecurity)                                                           Slide 7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72430" cy="393192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iage-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54480"/>
            <a:ext cx="508955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572000"/>
            <a:ext cx="508955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Inter"/>
              </a:defRPr>
            </a:pPr>
            <a:r>
              <a:t>Results Triage Workspace: Real-Time Findings Stream</a:t>
            </a:r>
          </a:p>
          <a:p>
            <a:pPr>
              <a:defRPr sz="950">
                <a:solidFill>
                  <a:srgbClr val="94A3B8"/>
                </a:solidFill>
                <a:latin typeface="Inter"/>
              </a:defRPr>
            </a:pPr>
            <a:r>
              <a:t>Live telemetry HUD with verified control counts, severity badges, and one-click filtering by OWASP category, status, and path.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6830" y="1463040"/>
            <a:ext cx="5272430" cy="393192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nding-inspec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270" y="1554480"/>
            <a:ext cx="5089550" cy="2926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78270" y="4572000"/>
            <a:ext cx="508955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F4444"/>
                </a:solidFill>
                <a:latin typeface="Inter"/>
              </a:defRPr>
            </a:pPr>
            <a:r>
              <a:t>Differential Finding Inspector: Mathematical Evidence</a:t>
            </a:r>
          </a:p>
          <a:p>
            <a:pPr>
              <a:defRPr sz="950">
                <a:solidFill>
                  <a:srgbClr val="94A3B8"/>
                </a:solidFill>
                <a:latin typeface="Inter"/>
              </a:defRPr>
            </a:pPr>
            <a:r>
              <a:t>Side-by-side baseline vs attack diff showing BOLA breach (200 OK vs 403), leaked PII fields, 4-factor risk breakdown, and copy-paste cURL PoC.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577840"/>
            <a:ext cx="10728655" cy="594360"/>
          </a:xfrm>
          <a:prstGeom prst="roundRect">
            <a:avLst/>
          </a:prstGeom>
          <a:solidFill>
            <a:srgbClr val="151B2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650992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8FAFC"/>
                </a:solidFill>
                <a:latin typeface="Inter"/>
              </a:defRPr>
            </a:pPr>
            <a:r>
              <a:t>Zero Guesswork: Every finding includes empirical reproduction status (100% verified), exact response diffs, and reproducible curl PoCs.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F"/>
          </a:solidFill>
          <a:ln>
            <a:solidFill>
              <a:srgbClr val="0608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8BDF8"/>
                </a:solidFill>
                <a:latin typeface="Inter"/>
              </a:defRPr>
            </a:pPr>
            <a:r>
              <a:t>CI/CD &amp; INTEGRATION</a:t>
            </a:r>
          </a:p>
          <a:p>
            <a:pPr>
              <a:defRPr sz="2200" b="1">
                <a:solidFill>
                  <a:srgbClr val="F8FAFC"/>
                </a:solidFill>
                <a:latin typeface="Inter"/>
              </a:defRPr>
            </a:pPr>
            <a:r>
              <a:t>Shift-Left Automated Security Quality Gate for CI/CD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9050"/>
          </a:xfrm>
          <a:prstGeom prst="rect">
            <a:avLst/>
          </a:prstGeom>
          <a:solidFill>
            <a:srgbClr val="232D42"/>
          </a:solidFill>
          <a:ln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t>SentinelAPI · AmiHacks 2026 (Track C: Cybersecurity)                                                           Slide 8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13455" cy="347472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3413455" cy="38100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304769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8BDF8"/>
                </a:solidFill>
                <a:latin typeface="Inter"/>
              </a:defRPr>
            </a:pPr>
            <a:r>
              <a:t>HEADLESS CI GATE CLI</a:t>
            </a:r>
          </a:p>
          <a:p>
            <a:pPr>
              <a:spcAft>
                <a:spcPts val="1000"/>
              </a:spcAft>
              <a:defRPr sz="900">
                <a:solidFill>
                  <a:srgbClr val="64748B"/>
                </a:solidFill>
                <a:latin typeface="JetBrains Mono"/>
              </a:defRPr>
            </a:pPr>
            <a:r>
              <a:t>scripts/ci_gate.py</a:t>
            </a:r>
          </a:p>
          <a:p>
            <a:pPr>
              <a:defRPr sz="1050">
                <a:solidFill>
                  <a:srgbClr val="94A3B8"/>
                </a:solidFill>
                <a:latin typeface="Inter"/>
              </a:defRPr>
            </a:pPr>
            <a:r>
              <a:t>Runs headlessly in any CI/CD pipeline (GitHub Actions, GitLab CI, CircleCI). Evaluates exported scan findings against configurable policy thresholds (--fail-on CRITICAL,HIGH --min-confidence 0.70) and breaks builds with exit code 1 on policy breaches.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413455" cy="347472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463040"/>
            <a:ext cx="3413455" cy="381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45920"/>
            <a:ext cx="304769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0B981"/>
                </a:solidFill>
                <a:latin typeface="Inter"/>
              </a:defRPr>
            </a:pPr>
            <a:r>
              <a:t>AUTOMATED SARIF &amp; AUDIT EXPORTS</a:t>
            </a:r>
          </a:p>
          <a:p>
            <a:pPr>
              <a:spcAft>
                <a:spcPts val="1000"/>
              </a:spcAft>
              <a:defRPr sz="900">
                <a:solidFill>
                  <a:srgbClr val="64748B"/>
                </a:solidFill>
                <a:latin typeface="JetBrains Mono"/>
              </a:defRPr>
            </a:pPr>
            <a:r>
              <a:t>GitHub Security Tab Integration</a:t>
            </a:r>
          </a:p>
          <a:p>
            <a:pPr>
              <a:defRPr sz="1050">
                <a:solidFill>
                  <a:srgbClr val="94A3B8"/>
                </a:solidFill>
                <a:latin typeface="Inter"/>
              </a:defRPr>
            </a:pPr>
            <a:r>
              <a:t>Automatically renders and exports deterministic SARIF, Markdown, and JSON audit reports. Findings appear natively in GitHub Security code scanning alerts, enabling instant developer triage inside pull requests.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413455" cy="347472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463040"/>
            <a:ext cx="3413455" cy="38100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645920"/>
            <a:ext cx="304769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6366F1"/>
                </a:solidFill>
                <a:latin typeface="Inter"/>
              </a:defRPr>
            </a:pPr>
            <a:r>
              <a:t>HERMETIC MULTI-TARGET SANDBOX</a:t>
            </a:r>
          </a:p>
          <a:p>
            <a:pPr>
              <a:spcAft>
                <a:spcPts val="1000"/>
              </a:spcAft>
              <a:defRPr sz="900">
                <a:solidFill>
                  <a:srgbClr val="64748B"/>
                </a:solidFill>
                <a:latin typeface="JetBrains Mono"/>
              </a:defRPr>
            </a:pPr>
            <a:r>
              <a:t>Turnkey Docker Compose Testbed</a:t>
            </a:r>
          </a:p>
          <a:p>
            <a:pPr>
              <a:defRPr sz="1050">
                <a:solidFill>
                  <a:srgbClr val="94A3B8"/>
                </a:solidFill>
                <a:latin typeface="Inter"/>
              </a:defRPr>
            </a:pPr>
            <a:r>
              <a:t>Ships with realistic vulnerable sandboxes (Retail Store, MedPulse Healthcare, FinTech API) on ports 9000-9003. When SECURE_MODE=true is toggled, SentinelAPI verifies 100% access controls pass with zero false positives.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51B2B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38BDF8"/>
                </a:solidFill>
                <a:latin typeface="Inter"/>
              </a:defRPr>
            </a:pPr>
            <a:r>
              <a:t>GitHub Actions Workflow Integration (ci.yml):</a:t>
            </a:r>
          </a:p>
          <a:p>
            <a:pPr>
              <a:defRPr sz="950">
                <a:solidFill>
                  <a:srgbClr val="7DD3FC"/>
                </a:solidFill>
                <a:latin typeface="JetBrains Mono"/>
              </a:defRPr>
            </a:pPr>
            <a:r>
              <a:t>python -m app.cli scan --spec http://api:8000/openapi.json --base-url http://api:8000 --json-out findings.json</a:t>
            </a:r>
            <a:br/>
            <a:r>
              <a:t>python scripts/ci_gate.py --findings findings.json --fail-on CRITICAL,HIGH --min-confidence 0.70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F"/>
          </a:solidFill>
          <a:ln>
            <a:solidFill>
              <a:srgbClr val="0608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8BDF8"/>
                </a:solidFill>
                <a:latin typeface="Inter"/>
              </a:defRPr>
            </a:pPr>
            <a:r>
              <a:t>FUTURE SCOPE &amp; SAAS VISION</a:t>
            </a:r>
          </a:p>
          <a:p>
            <a:pPr>
              <a:defRPr sz="2200" b="1">
                <a:solidFill>
                  <a:srgbClr val="F8FAFC"/>
                </a:solidFill>
                <a:latin typeface="Inter"/>
              </a:defRPr>
            </a:pPr>
            <a:r>
              <a:t>Commercial Roadmap: Beyond the Hackathon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9050"/>
          </a:xfrm>
          <a:prstGeom prst="rect">
            <a:avLst/>
          </a:prstGeom>
          <a:solidFill>
            <a:srgbClr val="232D42"/>
          </a:solidFill>
          <a:ln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t>SentinelAPI · AmiHacks 2026 (Track C: Cybersecurity)                                                           Slide 9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72430" cy="205740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72430" cy="38100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481523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38BDF8"/>
                </a:solidFill>
                <a:latin typeface="Inter"/>
              </a:defRPr>
            </a:pPr>
            <a:r>
              <a:t>OPEN-SOURCE CLI + PAID CLOUD SAAS</a:t>
            </a:r>
          </a:p>
          <a:p>
            <a:pPr>
              <a:spcAft>
                <a:spcPts val="600"/>
              </a:spcAft>
              <a:defRPr sz="950" b="1">
                <a:solidFill>
                  <a:srgbClr val="64748B"/>
                </a:solidFill>
                <a:latin typeface="Inter"/>
              </a:defRPr>
            </a:pPr>
            <a:r>
              <a:t>Freemium Enterprise Model</a:t>
            </a:r>
          </a:p>
          <a:p>
            <a:pPr>
              <a:defRPr sz="1000">
                <a:solidFill>
                  <a:srgbClr val="94A3B8"/>
                </a:solidFill>
                <a:latin typeface="Inter"/>
              </a:defRPr>
            </a:pPr>
            <a:r>
              <a:t>Maintain open-source CLI for individual developers and local CI gates. Commercialize a hosted, multi-tenant SaaS dashboard for engineering teams with centralized RBAC, historical risk trending, and vulnerability triage workflows.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6830" y="1463040"/>
            <a:ext cx="5272430" cy="205740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6830" y="1463040"/>
            <a:ext cx="5272430" cy="381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5430" y="1645920"/>
            <a:ext cx="481523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10B981"/>
                </a:solidFill>
                <a:latin typeface="Inter"/>
              </a:defRPr>
            </a:pPr>
            <a:r>
              <a:t>ENTERPRISE OAUTH2 &amp; SSO NEGOTIATION</a:t>
            </a:r>
          </a:p>
          <a:p>
            <a:pPr>
              <a:spcAft>
                <a:spcPts val="600"/>
              </a:spcAft>
              <a:defRPr sz="950" b="1">
                <a:solidFill>
                  <a:srgbClr val="64748B"/>
                </a:solidFill>
                <a:latin typeface="Inter"/>
              </a:defRPr>
            </a:pPr>
            <a:r>
              <a:t>Automated Identity Orchestration</a:t>
            </a:r>
          </a:p>
          <a:p>
            <a:pPr>
              <a:defRPr sz="1000">
                <a:solidFill>
                  <a:srgbClr val="94A3B8"/>
                </a:solidFill>
                <a:latin typeface="Inter"/>
              </a:defRPr>
            </a:pPr>
            <a:r>
              <a:t>Extend beyond static JWTs to automated OAuth2 / OIDC PKCE flow negotiation, SAML handshakes, and mTLS client-certificate authentication for complex enterprise banking and healthcare environments.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39"/>
            <a:ext cx="5272430" cy="205740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749039"/>
            <a:ext cx="5272430" cy="3810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31919"/>
            <a:ext cx="481523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F59E0B"/>
                </a:solidFill>
                <a:latin typeface="Inter"/>
              </a:defRPr>
            </a:pPr>
            <a:r>
              <a:t>CUSTOM REGULATORY COMPLIANCE ENGINES</a:t>
            </a:r>
          </a:p>
          <a:p>
            <a:pPr>
              <a:spcAft>
                <a:spcPts val="600"/>
              </a:spcAft>
              <a:defRPr sz="950" b="1">
                <a:solidFill>
                  <a:srgbClr val="64748B"/>
                </a:solidFill>
                <a:latin typeface="Inter"/>
              </a:defRPr>
            </a:pPr>
            <a:r>
              <a:t>Declarative Compliance Frameworks</a:t>
            </a:r>
          </a:p>
          <a:p>
            <a:pPr>
              <a:defRPr sz="1000">
                <a:solidFill>
                  <a:srgbClr val="94A3B8"/>
                </a:solidFill>
                <a:latin typeface="Inter"/>
              </a:defRPr>
            </a:pPr>
            <a:r>
              <a:t>Provide declarative YAML policy mappings translating authorization findings directly into HIPAA, PCI-DSS, SOC 2, and ISO 27001 audit deliverables with automated executive PDF sign-off reports.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6830" y="3749039"/>
            <a:ext cx="5272430" cy="205740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6830" y="3749039"/>
            <a:ext cx="5272430" cy="38100"/>
          </a:xfrm>
          <a:prstGeom prst="rect">
            <a:avLst/>
          </a:prstGeom>
          <a:solidFill>
            <a:srgbClr val="A855F7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430" y="3931919"/>
            <a:ext cx="481523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A855F7"/>
                </a:solidFill>
                <a:latin typeface="Inter"/>
              </a:defRPr>
            </a:pPr>
            <a:r>
              <a:t>DISTRIBUTED SCAN MESH &amp; PERSISTENCE</a:t>
            </a:r>
          </a:p>
          <a:p>
            <a:pPr>
              <a:spcAft>
                <a:spcPts val="600"/>
              </a:spcAft>
              <a:defRPr sz="950" b="1">
                <a:solidFill>
                  <a:srgbClr val="64748B"/>
                </a:solidFill>
                <a:latin typeface="Inter"/>
              </a:defRPr>
            </a:pPr>
            <a:r>
              <a:t>Scalable Microservice Architecture</a:t>
            </a:r>
          </a:p>
          <a:p>
            <a:pPr>
              <a:defRPr sz="1000">
                <a:solidFill>
                  <a:srgbClr val="94A3B8"/>
                </a:solidFill>
                <a:latin typeface="Inter"/>
              </a:defRPr>
            </a:pPr>
            <a:r>
              <a:t>Deploy distributed Kubernetes scanner workers capable of concurrently auditing large microservice meshes, backed by MongoDB and PostgreSQL persistence adapters for multi-year enterprise audit archiving.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F"/>
          </a:solidFill>
          <a:ln>
            <a:solidFill>
              <a:srgbClr val="0608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8BDF8"/>
                </a:solidFill>
                <a:latin typeface="Inter"/>
              </a:defRPr>
            </a:pPr>
            <a:r>
              <a:t>CONCLUSION &amp; Q&amp;A</a:t>
            </a:r>
          </a:p>
          <a:p>
            <a:pPr>
              <a:defRPr sz="2200" b="1">
                <a:solidFill>
                  <a:srgbClr val="F8FAFC"/>
                </a:solidFill>
                <a:latin typeface="Inter"/>
              </a:defRPr>
            </a:pPr>
            <a:r>
              <a:t>Team &amp; Project Summary — Questions &amp; Live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9050"/>
          </a:xfrm>
          <a:prstGeom prst="rect">
            <a:avLst/>
          </a:prstGeom>
          <a:solidFill>
            <a:srgbClr val="232D42"/>
          </a:solidFill>
          <a:ln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t>SentinelAPI · AmiHacks 2026 (Track C: Cybersecurity)                                                           Slide 10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72430" cy="466344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23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45920"/>
            <a:ext cx="472379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8BDF8"/>
                </a:solidFill>
                <a:latin typeface="Inter"/>
              </a:defRPr>
            </a:pPr>
            <a:r>
              <a:t>CORE TEAM &amp; CONTRIBUTIONS</a:t>
            </a:r>
          </a:p>
          <a:p>
            <a:pPr>
              <a:spcAft>
                <a:spcPts val="600"/>
              </a:spcAft>
              <a:defRPr sz="1100" b="1">
                <a:solidFill>
                  <a:srgbClr val="F8FAFC"/>
                </a:solidFill>
                <a:latin typeface="Inter"/>
              </a:defRPr>
            </a:pPr>
            <a:r>
              <a:t>Tanuj — Lead Security Architect &amp; Full-Stack Engineer</a:t>
            </a:r>
          </a:p>
          <a:p>
            <a:pPr>
              <a:spcAft>
                <a:spcPts val="400"/>
              </a:spcAft>
              <a:defRPr sz="950">
                <a:solidFill>
                  <a:srgbClr val="94A3B8"/>
                </a:solidFill>
                <a:latin typeface="Inter"/>
              </a:defRPr>
            </a:pPr>
            <a:r>
              <a:t>• Core Security Engine: Differential response analyzer, ground-truth authorization matrix compiler, and 6 modular OWASP security checks.</a:t>
            </a:r>
          </a:p>
          <a:p>
            <a:pPr>
              <a:spcAft>
                <a:spcPts val="400"/>
              </a:spcAft>
              <a:defRPr sz="950">
                <a:solidFill>
                  <a:srgbClr val="94A3B8"/>
                </a:solidFill>
                <a:latin typeface="Inter"/>
              </a:defRPr>
            </a:pPr>
            <a:r>
              <a:t>• Execution &amp; Safety Infrastructure: Token-bucket HTTP executor, strict immutable scope guard, rate/budget caps, and multi-persona JWT orchestrator.</a:t>
            </a:r>
          </a:p>
          <a:p>
            <a:pPr>
              <a:spcAft>
                <a:spcPts val="400"/>
              </a:spcAft>
              <a:defRPr sz="950">
                <a:solidFill>
                  <a:srgbClr val="94A3B8"/>
                </a:solidFill>
                <a:latin typeface="Inter"/>
              </a:defRPr>
            </a:pPr>
            <a:r>
              <a:t>• Backend &amp; Storage: FastAPI async orchestrator, real-time SSE telemetry stream, and atomic JSON store with secret leak guards.</a:t>
            </a:r>
          </a:p>
          <a:p>
            <a:pPr>
              <a:spcAft>
                <a:spcPts val="400"/>
              </a:spcAft>
              <a:defRPr sz="950">
                <a:solidFill>
                  <a:srgbClr val="94A3B8"/>
                </a:solidFill>
                <a:latin typeface="Inter"/>
              </a:defRPr>
            </a:pPr>
            <a:r>
              <a:t>• Tactical Web UI: React 19/Vite dashboard, Results Triage Workspace, Authorization Heatmap, and Differential Inspector.</a:t>
            </a:r>
          </a:p>
          <a:p>
            <a:pPr>
              <a:spcAft>
                <a:spcPts val="400"/>
              </a:spcAft>
              <a:defRPr sz="950">
                <a:solidFill>
                  <a:srgbClr val="94A3B8"/>
                </a:solidFill>
                <a:latin typeface="Inter"/>
              </a:defRPr>
            </a:pPr>
            <a:r>
              <a:t>• CI Quality Gate: Headless ci_gate.py, Docker Compose testbed, live empirical reproduction, and zero-egress AI analyst boundary.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6830" y="1463040"/>
            <a:ext cx="5272430" cy="4663440"/>
          </a:xfrm>
          <a:prstGeom prst="roundRect">
            <a:avLst/>
          </a:prstGeom>
          <a:solidFill>
            <a:srgbClr val="0D111C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150" y="1645920"/>
            <a:ext cx="472379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6366F1"/>
                </a:solidFill>
                <a:latin typeface="Inter"/>
              </a:defRPr>
            </a:pPr>
            <a:r>
              <a:t>PROJECT SUMMARY &amp; DEMO ACCESS</a:t>
            </a:r>
          </a:p>
          <a:p>
            <a:pPr>
              <a:spcAft>
                <a:spcPts val="1800"/>
              </a:spcAft>
              <a:defRPr sz="1200" b="1">
                <a:solidFill>
                  <a:srgbClr val="F8FAFC"/>
                </a:solidFill>
                <a:latin typeface="Inter"/>
              </a:defRPr>
            </a:pPr>
            <a:r>
              <a:t>“SentinelAPI stops API authorization breaches before code hits production — fully autonomous, mathematically verified, with reproducible evidence and zero secrets leaked.”</a:t>
            </a:r>
          </a:p>
          <a:p>
            <a:pPr>
              <a:spcAft>
                <a:spcPts val="600"/>
              </a:spcAft>
              <a:defRPr sz="1000" b="1">
                <a:solidFill>
                  <a:srgbClr val="38BDF8"/>
                </a:solidFill>
                <a:latin typeface="Inter"/>
              </a:defRPr>
            </a:pPr>
            <a:r>
              <a:t>GitHub Repository: </a:t>
            </a:r>
            <a:r>
              <a:rPr b="0">
                <a:solidFill>
                  <a:srgbClr val="7DD3FC"/>
                </a:solidFill>
                <a:latin typeface="JetBrains Mono"/>
              </a:rPr>
              <a:t>https://github.com/x03tanuj/sentinel-api</a:t>
            </a:r>
          </a:p>
          <a:p>
            <a:pPr>
              <a:spcAft>
                <a:spcPts val="600"/>
              </a:spcAft>
              <a:defRPr sz="1000" b="1">
                <a:solidFill>
                  <a:srgbClr val="38BDF8"/>
                </a:solidFill>
                <a:latin typeface="Inter"/>
              </a:defRPr>
            </a:pPr>
            <a:r>
              <a:t>Live Tactical Dashboard: </a:t>
            </a:r>
            <a:r>
              <a:rPr b="0">
                <a:solidFill>
                  <a:srgbClr val="7DD3FC"/>
                </a:solidFill>
                <a:latin typeface="JetBrains Mono"/>
              </a:rPr>
              <a:t>http://localhost:8080</a:t>
            </a:r>
          </a:p>
          <a:p>
            <a:pPr>
              <a:spcAft>
                <a:spcPts val="600"/>
              </a:spcAft>
              <a:defRPr sz="1000" b="1">
                <a:solidFill>
                  <a:srgbClr val="38BDF8"/>
                </a:solidFill>
                <a:latin typeface="Inter"/>
              </a:defRPr>
            </a:pPr>
            <a:r>
              <a:t>Interactive Demo Script: </a:t>
            </a:r>
            <a:r>
              <a:rPr b="0">
                <a:solidFill>
                  <a:srgbClr val="7DD3FC"/>
                </a:solidFill>
                <a:latin typeface="JetBrains Mono"/>
              </a:rPr>
              <a:t>bash scripts/demo.sh</a:t>
            </a:r>
          </a:p>
          <a:p>
            <a:pPr>
              <a:spcAft>
                <a:spcPts val="600"/>
              </a:spcAft>
              <a:defRPr sz="1000" b="1">
                <a:solidFill>
                  <a:srgbClr val="38BDF8"/>
                </a:solidFill>
                <a:latin typeface="Inter"/>
              </a:defRPr>
            </a:pPr>
            <a:r>
              <a:t>Architecture Diagram: </a:t>
            </a:r>
            <a:r>
              <a:rPr b="0">
                <a:solidFill>
                  <a:srgbClr val="7DD3FC"/>
                </a:solidFill>
                <a:latin typeface="JetBrains Mono"/>
              </a:rPr>
              <a:t>docs/architecture.png (2400x1400)</a:t>
            </a:r>
          </a:p>
          <a:p>
            <a:br/>
            <a:pPr>
              <a:defRPr sz="1400" b="1">
                <a:solidFill>
                  <a:srgbClr val="10B981"/>
                </a:solidFill>
                <a:latin typeface="Inter"/>
              </a:defRPr>
            </a:pPr>
            <a:r>
              <a:t>Thank You! We are now open for Q&amp;A.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